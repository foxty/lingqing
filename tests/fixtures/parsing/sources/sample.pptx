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40919A-627F-4060-8C9F-4621ACEB82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8a475b97_0_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8a475b97_0_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8a475b97_0_2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a8a475b97_0_2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a8a475b97_6_0)">
  <p:cSld name="Generated (g3fa8a475b97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381000" y="381000"/>
            <a:ext cx="4762500" cy="609600"/>
            <a:chOff x="381000" y="381000"/>
            <a:chExt cx="4762500" cy="609600"/>
          </a:xfrm>
        </p:grpSpPr>
        <p:sp>
          <p:nvSpPr>
            <p:cNvPr id="56" name="Google Shape;56;p14"/>
            <p:cNvSpPr txBox="1"/>
            <p:nvPr/>
          </p:nvSpPr>
          <p:spPr>
            <a:xfrm>
              <a:off x="381000" y="3810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1E293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PPTX Parser Test Environment</a:t>
              </a:r>
              <a:endParaRPr sz="2400" b="1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7" name="Google Shape;57;p14"/>
            <p:cNvSpPr txBox="1"/>
            <p:nvPr/>
          </p:nvSpPr>
          <p:spPr>
            <a:xfrm>
              <a:off x="381000" y="76200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>
                  <a:solidFill>
                    <a:srgbClr val="64748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Verification suite for multi-element rendering, tables, and vector shapes</a:t>
              </a:r>
              <a:endParaRPr sz="1100" b="0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8" name="Google Shape;58;p14"/>
          <p:cNvGrpSpPr/>
          <p:nvPr/>
        </p:nvGrpSpPr>
        <p:grpSpPr>
          <a:xfrm>
            <a:off x="381000" y="1238250"/>
            <a:ext cx="2571900" cy="3524400"/>
            <a:chOff x="0" y="0"/>
            <a:chExt cx="2571900" cy="3524400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2571900" cy="3524400"/>
            </a:xfrm>
            <a:prstGeom prst="roundRect">
              <a:avLst>
                <a:gd name="adj" fmla="val 296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190500" y="190500"/>
              <a:ext cx="2190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Rich Text Column</a:t>
              </a:r>
              <a:endParaRPr sz="1400" b="0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This column validates complex vertical flow, </a:t>
              </a:r>
              <a:r>
                <a:rPr lang="en-GB" sz="1050" b="1">
                  <a:solidFill>
                    <a:srgbClr val="2563E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bold inline accents</a:t>
              </a:r>
              <a:r>
                <a:rPr lang="en-GB" sz="105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, and nested line items to test rendering engine boundaries.</a:t>
              </a:r>
              <a:endParaRPr sz="1050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Arial" panose="020B0604020202090204"/>
                <a:buChar char="●"/>
              </a:pPr>
              <a:r>
                <a:rPr lang="en-GB" sz="95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Standard list item indentation and wrap behavior.</a:t>
              </a:r>
              <a:endParaRPr sz="950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Arial" panose="020B0604020202090204"/>
                <a:buChar char="●"/>
              </a:pPr>
              <a:r>
                <a:rPr lang="en-GB" sz="95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Secondary node validating precise vertical margins.</a:t>
              </a:r>
              <a:endParaRPr sz="950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950"/>
                <a:buFont typeface="Arial" panose="020B0604020202090204"/>
                <a:buChar char="●"/>
              </a:pPr>
              <a:r>
                <a:rPr lang="en-GB" sz="95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Inline </a:t>
              </a:r>
              <a:r>
                <a:rPr lang="en-GB" sz="950" b="0">
                  <a:solidFill>
                    <a:srgbClr val="05966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success tokens</a:t>
              </a:r>
              <a:r>
                <a:rPr lang="en-GB" sz="95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for state testing.</a:t>
              </a:r>
              <a:endParaRPr sz="950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61" name="Google Shape;61;p14"/>
          <p:cNvSpPr/>
          <p:nvPr/>
        </p:nvSpPr>
        <p:spPr>
          <a:xfrm>
            <a:off x="3143250" y="1238250"/>
            <a:ext cx="3048000" cy="3524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3333750" y="1428750"/>
          <a:ext cx="3000000" cy="3143250"/>
        </p:xfrm>
        <a:graphic>
          <a:graphicData uri="http://schemas.openxmlformats.org/drawingml/2006/table">
            <a:tbl>
              <a:tblPr>
                <a:noFill/>
                <a:tableStyleId>{2240919A-627F-4060-8C9F-4621ACEB82A4}</a:tableStyleId>
              </a:tblPr>
              <a:tblGrid>
                <a:gridCol w="666750"/>
                <a:gridCol w="666750"/>
                <a:gridCol w="666750"/>
                <a:gridCol w="666750"/>
              </a:tblGrid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475569"/>
                          </a:solidFill>
                          <a:highlight>
                            <a:srgbClr val="F1F5F9"/>
                          </a:highlight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Component</a:t>
                      </a:r>
                      <a:endParaRPr lang="en-GB" sz="1000" b="0">
                        <a:solidFill>
                          <a:srgbClr val="475569"/>
                        </a:solidFill>
                        <a:highlight>
                          <a:srgbClr val="F1F5F9"/>
                        </a:highlight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57150" marB="571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475569"/>
                          </a:solidFill>
                          <a:highlight>
                            <a:srgbClr val="F1F5F9"/>
                          </a:highlight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Status</a:t>
                      </a:r>
                      <a:endParaRPr lang="en-GB" sz="1000" b="0">
                        <a:solidFill>
                          <a:srgbClr val="475569"/>
                        </a:solidFill>
                        <a:highlight>
                          <a:srgbClr val="F1F5F9"/>
                        </a:highlight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57150" marB="571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475569"/>
                          </a:solidFill>
                          <a:highlight>
                            <a:srgbClr val="F1F5F9"/>
                          </a:highlight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Latency</a:t>
                      </a:r>
                      <a:endParaRPr lang="en-GB" sz="1000" b="0">
                        <a:solidFill>
                          <a:srgbClr val="475569"/>
                        </a:solidFill>
                        <a:highlight>
                          <a:srgbClr val="F1F5F9"/>
                        </a:highlight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57150" marB="571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475569"/>
                          </a:solidFill>
                          <a:highlight>
                            <a:srgbClr val="F1F5F9"/>
                          </a:highlight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Score</a:t>
                      </a:r>
                      <a:endParaRPr lang="en-GB" sz="1000" b="0">
                        <a:solidFill>
                          <a:srgbClr val="475569"/>
                        </a:solidFill>
                        <a:highlight>
                          <a:srgbClr val="F1F5F9"/>
                        </a:highlight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57150" marB="57150">
                    <a:solidFill>
                      <a:srgbClr val="F1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Text Engine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16A3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Passed</a:t>
                      </a:r>
                      <a:endParaRPr lang="en-GB" sz="1000" b="0">
                        <a:solidFill>
                          <a:srgbClr val="16A3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64748B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1.2ms</a:t>
                      </a:r>
                      <a:endParaRPr lang="en-GB" sz="1000">
                        <a:solidFill>
                          <a:srgbClr val="64748B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10 / 10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Vector Shapes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16A3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Passed</a:t>
                      </a:r>
                      <a:endParaRPr lang="en-GB" sz="1000" b="0">
                        <a:solidFill>
                          <a:srgbClr val="16A3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64748B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4.5ms</a:t>
                      </a:r>
                      <a:endParaRPr lang="en-GB" sz="1000">
                        <a:solidFill>
                          <a:srgbClr val="64748B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9 / 10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Image Loader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16A3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Passed</a:t>
                      </a:r>
                      <a:endParaRPr lang="en-GB" sz="1000" b="0">
                        <a:solidFill>
                          <a:srgbClr val="16A3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64748B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2.1ms</a:t>
                      </a:r>
                      <a:endParaRPr lang="en-GB" sz="1000">
                        <a:solidFill>
                          <a:srgbClr val="64748B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8 / 10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Font Renderer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16A3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Passed</a:t>
                      </a:r>
                      <a:endParaRPr lang="en-GB" sz="1000" b="0">
                        <a:solidFill>
                          <a:srgbClr val="16A3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64748B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0.8ms</a:t>
                      </a:r>
                      <a:endParaRPr lang="en-GB" sz="1000">
                        <a:solidFill>
                          <a:srgbClr val="64748B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10 / 10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Layout Solver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rgbClr val="16A3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Passed</a:t>
                      </a:r>
                      <a:endParaRPr lang="en-GB" sz="1000" b="0">
                        <a:solidFill>
                          <a:srgbClr val="16A3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64748B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3.4ms</a:t>
                      </a:r>
                      <a:endParaRPr lang="en-GB" sz="1000">
                        <a:solidFill>
                          <a:srgbClr val="64748B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rPr>
                        <a:t>9 / 10</a:t>
                      </a:r>
                      <a:endParaRPr lang="en-GB" sz="1000" b="0"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</a:tr>
            </a:tbl>
          </a:graphicData>
        </a:graphic>
      </p:graphicFrame>
      <p:grpSp>
        <p:nvGrpSpPr>
          <p:cNvPr id="63" name="Google Shape;63;p14"/>
          <p:cNvGrpSpPr/>
          <p:nvPr/>
        </p:nvGrpSpPr>
        <p:grpSpPr>
          <a:xfrm>
            <a:off x="6381750" y="1238250"/>
            <a:ext cx="2381400" cy="3524400"/>
            <a:chOff x="0" y="0"/>
            <a:chExt cx="2381400" cy="35244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2381400" cy="35244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190500" y="1905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Vector Metrics</a:t>
              </a:r>
              <a:endParaRPr sz="1400" b="0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66" name="Google Shape;66;p14"/>
            <p:cNvGrpSpPr/>
            <p:nvPr/>
          </p:nvGrpSpPr>
          <p:grpSpPr>
            <a:xfrm>
              <a:off x="190500" y="619125"/>
              <a:ext cx="2000100" cy="809700"/>
              <a:chOff x="0" y="0"/>
              <a:chExt cx="2000100" cy="8097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0" y="0"/>
                <a:ext cx="2000100" cy="809700"/>
              </a:xfrm>
              <a:prstGeom prst="roundRect">
                <a:avLst>
                  <a:gd name="adj" fmla="val 705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14"/>
              <p:cNvSpPr txBox="1"/>
              <p:nvPr/>
            </p:nvSpPr>
            <p:spPr>
              <a:xfrm>
                <a:off x="142875" y="1143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1">
                    <a:solidFill>
                      <a:srgbClr val="2563E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99.4%</a:t>
                </a:r>
                <a:endParaRPr sz="2000" b="1">
                  <a:solidFill>
                    <a:srgbClr val="2563E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64748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Parser Accuracy</a:t>
                </a:r>
                <a:endParaRPr sz="800" b="0">
                  <a:solidFill>
                    <a:srgbClr val="64748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>
              <a:off x="190500" y="1571625"/>
              <a:ext cx="2000100" cy="809700"/>
              <a:chOff x="0" y="0"/>
              <a:chExt cx="2000100" cy="8097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0" y="0"/>
                <a:ext cx="2000100" cy="809700"/>
              </a:xfrm>
              <a:prstGeom prst="roundRect">
                <a:avLst>
                  <a:gd name="adj" fmla="val 705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" name="Google Shape;71;p14"/>
              <p:cNvSpPr txBox="1"/>
              <p:nvPr/>
            </p:nvSpPr>
            <p:spPr>
              <a:xfrm>
                <a:off x="142875" y="1143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1">
                    <a:solidFill>
                      <a:srgbClr val="059669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&lt; 12ms</a:t>
                </a:r>
                <a:endParaRPr sz="2000" b="1">
                  <a:solidFill>
                    <a:srgbClr val="05966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64748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Render Latency</a:t>
                </a:r>
                <a:endParaRPr sz="800" b="0">
                  <a:solidFill>
                    <a:srgbClr val="64748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>
              <a:off x="190500" y="2524125"/>
              <a:ext cx="2000100" cy="809700"/>
              <a:chOff x="0" y="0"/>
              <a:chExt cx="2000100" cy="8097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0" y="0"/>
                <a:ext cx="2000100" cy="809700"/>
              </a:xfrm>
              <a:prstGeom prst="roundRect">
                <a:avLst>
                  <a:gd name="adj" fmla="val 705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152400" y="171450"/>
                <a:ext cx="457200" cy="457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5715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pic>
            <p:nvPicPr>
              <p:cNvPr id="75" name="Google Shape;75;p14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>
                <a:off x="123825" y="142875"/>
                <a:ext cx="514500" cy="5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" name="Google Shape;76;p14"/>
              <p:cNvSpPr txBox="1"/>
              <p:nvPr/>
            </p:nvSpPr>
            <p:spPr>
              <a:xfrm>
                <a:off x="762000" y="142875"/>
                <a:ext cx="1143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0F172A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Coverage</a:t>
                </a:r>
                <a:endParaRPr sz="1000" b="1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>
                    <a:solidFill>
                      <a:srgbClr val="64748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80% Target validation success rate</a:t>
                </a:r>
                <a:endParaRPr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5"/>
          <p:cNvGrpSpPr/>
          <p:nvPr/>
        </p:nvGrpSpPr>
        <p:grpSpPr>
          <a:xfrm>
            <a:off x="381000" y="381000"/>
            <a:ext cx="4762500" cy="609600"/>
            <a:chOff x="381000" y="381000"/>
            <a:chExt cx="4762500" cy="609600"/>
          </a:xfrm>
        </p:grpSpPr>
        <p:sp>
          <p:nvSpPr>
            <p:cNvPr id="82" name="Google Shape;82;p15"/>
            <p:cNvSpPr txBox="1"/>
            <p:nvPr/>
          </p:nvSpPr>
          <p:spPr>
            <a:xfrm>
              <a:off x="381000" y="3810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1E293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Interactive Element Suite</a:t>
              </a:r>
              <a:endParaRPr sz="2400" b="1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381000" y="76200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>
                  <a:solidFill>
                    <a:srgbClr val="64748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Advanced interactive components, dynamic state transitions, and metrics</a:t>
              </a:r>
              <a:endParaRPr sz="1100" b="0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381000" y="1238250"/>
            <a:ext cx="3905400" cy="1619100"/>
            <a:chOff x="381000" y="1238250"/>
            <a:chExt cx="3905400" cy="1619100"/>
          </a:xfrm>
        </p:grpSpPr>
        <p:sp>
          <p:nvSpPr>
            <p:cNvPr id="85" name="Google Shape;85;p15"/>
            <p:cNvSpPr/>
            <p:nvPr/>
          </p:nvSpPr>
          <p:spPr>
            <a:xfrm>
              <a:off x="381000" y="1238250"/>
              <a:ext cx="3905400" cy="1619100"/>
            </a:xfrm>
            <a:prstGeom prst="roundRect">
              <a:avLst>
                <a:gd name="adj" fmla="val 470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71500" y="142875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System Integration Checklist</a:t>
              </a:r>
              <a:endParaRPr sz="1400" b="0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87" name="Google Shape;87;p15"/>
            <p:cNvGrpSpPr/>
            <p:nvPr/>
          </p:nvGrpSpPr>
          <p:grpSpPr>
            <a:xfrm>
              <a:off x="571500" y="1857375"/>
              <a:ext cx="3467100" cy="190500"/>
              <a:chOff x="0" y="0"/>
              <a:chExt cx="3467100" cy="1905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152400" cy="152400"/>
              </a:xfrm>
              <a:prstGeom prst="ellipse">
                <a:avLst/>
              </a:prstGeom>
              <a:solidFill>
                <a:srgbClr val="EEF2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47625" y="57150"/>
                <a:ext cx="573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4F46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15"/>
              <p:cNvSpPr txBox="1"/>
              <p:nvPr/>
            </p:nvSpPr>
            <p:spPr>
              <a:xfrm>
                <a:off x="228600" y="0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API Gateway connection</a:t>
                </a:r>
                <a:r>
                  <a:rPr lang="en-GB" sz="1000" b="0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 established successfully</a:t>
                </a:r>
                <a:endParaRPr sz="1000" b="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91" name="Google Shape;91;p15"/>
            <p:cNvGrpSpPr/>
            <p:nvPr/>
          </p:nvGrpSpPr>
          <p:grpSpPr>
            <a:xfrm>
              <a:off x="571500" y="2143125"/>
              <a:ext cx="3467100" cy="190500"/>
              <a:chOff x="0" y="0"/>
              <a:chExt cx="3467100" cy="190500"/>
            </a:xfrm>
          </p:grpSpPr>
          <p:sp>
            <p:nvSpPr>
              <p:cNvPr id="92" name="Google Shape;92;p15"/>
              <p:cNvSpPr/>
              <p:nvPr/>
            </p:nvSpPr>
            <p:spPr>
              <a:xfrm>
                <a:off x="0" y="0"/>
                <a:ext cx="152400" cy="152400"/>
              </a:xfrm>
              <a:prstGeom prst="ellipse">
                <a:avLst/>
              </a:prstGeom>
              <a:solidFill>
                <a:srgbClr val="EEF2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47625" y="57150"/>
                <a:ext cx="573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4F46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228600" y="0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Database replicas</a:t>
                </a:r>
                <a:r>
                  <a:rPr lang="en-GB" sz="1000" b="0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 synchronized in real-time</a:t>
                </a:r>
                <a:endParaRPr sz="1000" b="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95" name="Google Shape;95;p15"/>
            <p:cNvGrpSpPr/>
            <p:nvPr/>
          </p:nvGrpSpPr>
          <p:grpSpPr>
            <a:xfrm>
              <a:off x="571500" y="2428875"/>
              <a:ext cx="3467100" cy="190500"/>
              <a:chOff x="0" y="0"/>
              <a:chExt cx="3467100" cy="19050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0" y="0"/>
                <a:ext cx="152400" cy="152400"/>
              </a:xfrm>
              <a:prstGeom prst="ellipse">
                <a:avLst/>
              </a:prstGeom>
              <a:solidFill>
                <a:srgbClr val="EEF2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47625" y="57150"/>
                <a:ext cx="573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4F46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15"/>
              <p:cNvSpPr txBox="1"/>
              <p:nvPr/>
            </p:nvSpPr>
            <p:spPr>
              <a:xfrm>
                <a:off x="228600" y="0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Websocket layer</a:t>
                </a:r>
                <a:r>
                  <a:rPr lang="en-GB" sz="1000" b="0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 active for live client connections</a:t>
                </a:r>
                <a:endParaRPr sz="1000" b="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grpSp>
        <p:nvGrpSpPr>
          <p:cNvPr id="99" name="Google Shape;99;p15"/>
          <p:cNvGrpSpPr/>
          <p:nvPr/>
        </p:nvGrpSpPr>
        <p:grpSpPr>
          <a:xfrm>
            <a:off x="381000" y="3048000"/>
            <a:ext cx="3905400" cy="1714500"/>
            <a:chOff x="381000" y="3048000"/>
            <a:chExt cx="3905400" cy="1714500"/>
          </a:xfrm>
        </p:grpSpPr>
        <p:sp>
          <p:nvSpPr>
            <p:cNvPr id="100" name="Google Shape;100;p15"/>
            <p:cNvSpPr/>
            <p:nvPr/>
          </p:nvSpPr>
          <p:spPr>
            <a:xfrm>
              <a:off x="381000" y="3048000"/>
              <a:ext cx="390540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571500" y="3238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Microservices Latency Matrix</a:t>
              </a:r>
              <a:endParaRPr sz="1400" b="0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02" name="Google Shape;102;p15"/>
            <p:cNvGrpSpPr/>
            <p:nvPr/>
          </p:nvGrpSpPr>
          <p:grpSpPr>
            <a:xfrm>
              <a:off x="571500" y="3619500"/>
              <a:ext cx="3524400" cy="876300"/>
              <a:chOff x="0" y="0"/>
              <a:chExt cx="3524400" cy="876300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0" y="0"/>
                <a:ext cx="35244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104;p15"/>
              <p:cNvSpPr txBox="1"/>
              <p:nvPr/>
            </p:nvSpPr>
            <p:spPr>
              <a:xfrm>
                <a:off x="95250" y="0"/>
                <a:ext cx="1524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475569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Service Node</a:t>
                </a:r>
                <a:endParaRPr sz="800" b="0">
                  <a:solidFill>
                    <a:srgbClr val="47556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5" name="Google Shape;105;p15"/>
              <p:cNvSpPr txBox="1"/>
              <p:nvPr/>
            </p:nvSpPr>
            <p:spPr>
              <a:xfrm>
                <a:off x="1714500" y="0"/>
                <a:ext cx="8574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475569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Uptime %</a:t>
                </a:r>
                <a:endParaRPr sz="800" b="0">
                  <a:solidFill>
                    <a:srgbClr val="47556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6" name="Google Shape;106;p15"/>
              <p:cNvSpPr txBox="1"/>
              <p:nvPr/>
            </p:nvSpPr>
            <p:spPr>
              <a:xfrm>
                <a:off x="2667000" y="0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475569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Avg Latency</a:t>
                </a:r>
                <a:endParaRPr sz="800" b="0">
                  <a:solidFill>
                    <a:srgbClr val="47556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07" name="Google Shape;107;p15"/>
              <p:cNvCxnSpPr/>
              <p:nvPr/>
            </p:nvCxnSpPr>
            <p:spPr>
              <a:xfrm>
                <a:off x="0" y="342900"/>
                <a:ext cx="35244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8" name="Google Shape;108;p15"/>
              <p:cNvSpPr txBox="1"/>
              <p:nvPr/>
            </p:nvSpPr>
            <p:spPr>
              <a:xfrm>
                <a:off x="95250" y="38100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Authentication Hub</a:t>
                </a:r>
                <a:endParaRPr sz="800" b="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9" name="Google Shape;109;p15"/>
              <p:cNvSpPr txBox="1"/>
              <p:nvPr/>
            </p:nvSpPr>
            <p:spPr>
              <a:xfrm>
                <a:off x="1714500" y="38100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2563E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99.99%</a:t>
                </a:r>
                <a:endParaRPr sz="800" b="0">
                  <a:solidFill>
                    <a:srgbClr val="2563E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10" name="Google Shape;110;p15"/>
              <p:cNvSpPr txBox="1"/>
              <p:nvPr/>
            </p:nvSpPr>
            <p:spPr>
              <a:xfrm>
                <a:off x="2667000" y="38100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4.2 ms</a:t>
                </a:r>
                <a:endParaRPr sz="800" b="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11" name="Google Shape;111;p15"/>
              <p:cNvCxnSpPr/>
              <p:nvPr/>
            </p:nvCxnSpPr>
            <p:spPr>
              <a:xfrm>
                <a:off x="0" y="647700"/>
                <a:ext cx="35244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2" name="Google Shape;112;p15"/>
              <p:cNvSpPr txBox="1"/>
              <p:nvPr/>
            </p:nvSpPr>
            <p:spPr>
              <a:xfrm>
                <a:off x="95250" y="68580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Inventory Engine</a:t>
                </a:r>
                <a:endParaRPr sz="800" b="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13" name="Google Shape;113;p15"/>
              <p:cNvSpPr txBox="1"/>
              <p:nvPr/>
            </p:nvSpPr>
            <p:spPr>
              <a:xfrm>
                <a:off x="1714500" y="68580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2563E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99.95%</a:t>
                </a:r>
                <a:endParaRPr sz="800" b="0">
                  <a:solidFill>
                    <a:srgbClr val="2563E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14" name="Google Shape;114;p15"/>
              <p:cNvSpPr txBox="1"/>
              <p:nvPr/>
            </p:nvSpPr>
            <p:spPr>
              <a:xfrm>
                <a:off x="2667000" y="68580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33415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11.8 ms</a:t>
                </a:r>
                <a:endParaRPr sz="800" b="0">
                  <a:solidFill>
                    <a:srgbClr val="33415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grpSp>
        <p:nvGrpSpPr>
          <p:cNvPr id="115" name="Google Shape;115;p15"/>
          <p:cNvGrpSpPr/>
          <p:nvPr/>
        </p:nvGrpSpPr>
        <p:grpSpPr>
          <a:xfrm>
            <a:off x="4476750" y="1238250"/>
            <a:ext cx="4286400" cy="3524400"/>
            <a:chOff x="4476750" y="1238250"/>
            <a:chExt cx="4286400" cy="3524400"/>
          </a:xfrm>
        </p:grpSpPr>
        <p:sp>
          <p:nvSpPr>
            <p:cNvPr id="116" name="Google Shape;116;p15"/>
            <p:cNvSpPr/>
            <p:nvPr/>
          </p:nvSpPr>
          <p:spPr>
            <a:xfrm>
              <a:off x="4476750" y="1238250"/>
              <a:ext cx="4286400" cy="3524400"/>
            </a:xfrm>
            <a:prstGeom prst="roundRect">
              <a:avLst>
                <a:gd name="adj" fmla="val 216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4667250" y="142875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System Performance &amp; Bandwidth Usage</a:t>
              </a:r>
              <a:endParaRPr sz="1400" b="0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18" name="Google Shape;118;p15"/>
            <p:cNvGrpSpPr/>
            <p:nvPr/>
          </p:nvGrpSpPr>
          <p:grpSpPr>
            <a:xfrm>
              <a:off x="4857750" y="1905000"/>
              <a:ext cx="1714500" cy="1047900"/>
              <a:chOff x="0" y="0"/>
              <a:chExt cx="1714500" cy="1047900"/>
            </a:xfrm>
          </p:grpSpPr>
          <p:sp>
            <p:nvSpPr>
              <p:cNvPr id="119" name="Google Shape;119;p15"/>
              <p:cNvSpPr/>
              <p:nvPr/>
            </p:nvSpPr>
            <p:spPr>
              <a:xfrm>
                <a:off x="0" y="0"/>
                <a:ext cx="17145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15"/>
              <p:cNvSpPr txBox="1"/>
              <p:nvPr/>
            </p:nvSpPr>
            <p:spPr>
              <a:xfrm>
                <a:off x="190500" y="190500"/>
                <a:ext cx="1333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 b="1">
                    <a:solidFill>
                      <a:srgbClr val="4F46E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2.4 GB/s</a:t>
                </a:r>
                <a:endParaRPr sz="2200" b="1">
                  <a:solidFill>
                    <a:srgbClr val="4F46E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190500" y="647700"/>
                <a:ext cx="1333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64748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Peak Network Throughput</a:t>
                </a:r>
                <a:endParaRPr sz="800" b="0">
                  <a:solidFill>
                    <a:srgbClr val="64748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122" name="Google Shape;122;p15"/>
            <p:cNvGrpSpPr/>
            <p:nvPr/>
          </p:nvGrpSpPr>
          <p:grpSpPr>
            <a:xfrm>
              <a:off x="6762750" y="1905000"/>
              <a:ext cx="1714500" cy="1047900"/>
              <a:chOff x="0" y="0"/>
              <a:chExt cx="1714500" cy="1047900"/>
            </a:xfrm>
          </p:grpSpPr>
          <p:sp>
            <p:nvSpPr>
              <p:cNvPr id="123" name="Google Shape;123;p15"/>
              <p:cNvSpPr/>
              <p:nvPr/>
            </p:nvSpPr>
            <p:spPr>
              <a:xfrm>
                <a:off x="0" y="0"/>
                <a:ext cx="17145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15"/>
              <p:cNvSpPr txBox="1"/>
              <p:nvPr/>
            </p:nvSpPr>
            <p:spPr>
              <a:xfrm>
                <a:off x="190500" y="190500"/>
                <a:ext cx="1333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 b="1">
                    <a:solidFill>
                      <a:srgbClr val="10B981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0.02%</a:t>
                </a:r>
                <a:endParaRPr sz="2200" b="1">
                  <a:solidFill>
                    <a:srgbClr val="10B98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5" name="Google Shape;125;p15"/>
              <p:cNvSpPr txBox="1"/>
              <p:nvPr/>
            </p:nvSpPr>
            <p:spPr>
              <a:xfrm>
                <a:off x="190500" y="647700"/>
                <a:ext cx="1333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64748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Average Packet Loss</a:t>
                </a:r>
                <a:endParaRPr sz="800" b="0">
                  <a:solidFill>
                    <a:srgbClr val="64748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126" name="Google Shape;126;p15"/>
            <p:cNvGrpSpPr/>
            <p:nvPr/>
          </p:nvGrpSpPr>
          <p:grpSpPr>
            <a:xfrm>
              <a:off x="4857750" y="3143250"/>
              <a:ext cx="3619500" cy="1428900"/>
              <a:chOff x="0" y="0"/>
              <a:chExt cx="3619500" cy="1428900"/>
            </a:xfrm>
          </p:grpSpPr>
          <p:sp>
            <p:nvSpPr>
              <p:cNvPr id="127" name="Google Shape;127;p15"/>
              <p:cNvSpPr/>
              <p:nvPr/>
            </p:nvSpPr>
            <p:spPr>
              <a:xfrm>
                <a:off x="0" y="0"/>
                <a:ext cx="3619500" cy="14289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38125" y="285750"/>
                <a:ext cx="857400" cy="857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9525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pic>
            <p:nvPicPr>
              <p:cNvPr id="129" name="Google Shape;129;p15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>
                <a:off x="190500" y="238125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" name="Google Shape;130;p15"/>
              <p:cNvSpPr txBox="1"/>
              <p:nvPr/>
            </p:nvSpPr>
            <p:spPr>
              <a:xfrm>
                <a:off x="428625" y="571500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0F172A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75%</a:t>
                </a:r>
                <a:endParaRPr sz="1200" b="1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31" name="Google Shape;131;p15"/>
              <p:cNvSpPr txBox="1"/>
              <p:nvPr/>
            </p:nvSpPr>
            <p:spPr>
              <a:xfrm>
                <a:off x="1381125" y="333375"/>
                <a:ext cx="20001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0">
                    <a:solidFill>
                      <a:srgbClr val="0F172A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GPU Memory Utilization</a:t>
                </a:r>
                <a:endParaRPr sz="1100" b="0">
                  <a:solidFill>
                    <a:srgbClr val="0F172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1381125" y="647700"/>
                <a:ext cx="857400" cy="209700"/>
              </a:xfrm>
              <a:prstGeom prst="roundRect">
                <a:avLst>
                  <a:gd name="adj" fmla="val 50000"/>
                </a:avLst>
              </a:prstGeom>
              <a:solidFill>
                <a:srgbClr val="EEF2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15"/>
              <p:cNvSpPr txBox="1"/>
              <p:nvPr/>
            </p:nvSpPr>
            <p:spPr>
              <a:xfrm>
                <a:off x="1381125" y="647700"/>
                <a:ext cx="857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>
                    <a:solidFill>
                      <a:srgbClr val="4F46E5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Active State</a:t>
                </a:r>
                <a:endParaRPr sz="800" b="0">
                  <a:solidFill>
                    <a:srgbClr val="4F46E5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34" name="Google Shape;134;p15"/>
              <p:cNvSpPr txBox="1"/>
              <p:nvPr/>
            </p:nvSpPr>
            <p:spPr>
              <a:xfrm>
                <a:off x="1381125" y="914400"/>
                <a:ext cx="20001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95" b="0">
                    <a:solidFill>
                      <a:srgbClr val="64748B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Displays real-time hardware memory allocation, buffer caching efficiency, and concurrent process scheduling.</a:t>
                </a:r>
                <a:endParaRPr sz="695" b="0">
                  <a:solidFill>
                    <a:srgbClr val="64748B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445" y="342265"/>
            <a:ext cx="3219450" cy="3209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</Words>
  <Application>WPS Docs</Application>
  <PresentationFormat/>
  <Paragraphs>119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Arial</vt:lpstr>
      <vt:lpstr>Microsoft YaHei</vt:lpstr>
      <vt:lpstr>方正雅意黑 GB18030L2</vt:lpstr>
      <vt:lpstr>Arial Unicode MS</vt:lpstr>
      <vt:lpstr>汉仪书宋二KW</vt:lpstr>
      <vt:lpstr>Simple Light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Isaac</cp:lastModifiedBy>
  <cp:revision>1</cp:revision>
  <dcterms:created xsi:type="dcterms:W3CDTF">2026-09-24T09:20:01Z</dcterms:created>
  <dcterms:modified xsi:type="dcterms:W3CDTF">2026-09-24T09:20:01Z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B456D1D0CD18B5E641EBB46A1426AA98_42</vt:lpwstr>
  </property>
  <property fmtid="{D5CDD505-2E9C-101B-9397-08002B2CF9AE}" pid="3" name="KSOProductBuildVer">
    <vt:lpwstr>1033-12.1.28496.28496</vt:lpwstr>
  </property>
</Properties>
</file>